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4400" b="1" i="0">
                <a:solidFill>
                  <a:srgbClr val="1F2328"/>
                </a:solidFill>
                <a:latin typeface="Arial"/>
              </a:rPr>
              <a:t xml:space="preserve">Secure Two-Player Chess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ctr" rtl="1"/>
            <a:r>
              <a:rPr sz="2200" b="0" i="0">
                <a:solidFill>
                  <a:srgbClr val="57606A"/>
                </a:solidFill>
                <a:latin typeface="Arial"/>
              </a:rPr>
              <a:t xml:space="preserve">משחק שחמט מאובטח בין שני שחקנים — מערכת לקוח/שרת ב‑</a:t>
            </a:r>
            <a:r>
              <a:rPr sz="2000" b="0" i="0">
                <a:solidFill>
                  <a:srgbClr val="57606A"/>
                </a:solidFill>
                <a:latin typeface="Consolas"/>
              </a:rPr>
              <a:t xml:space="preserve">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8447" y="29260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800" b="1" i="0">
                <a:solidFill>
                  <a:srgbClr val="1F6FEB"/>
                </a:solidFill>
                <a:latin typeface="Arial"/>
              </a:rPr>
              <a:t xml:space="preserve">מדריך לתלמיד — מצגת לבוחן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448495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הגרסה כוללת: אימות עם סיסמאות מוצפנות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(bcrypt)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, פרוטוקול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JSON-Lines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מעל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TCP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, ריבוי משחקים במקביל, ויריב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AI (alpha-beta minimax)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סדר הצגה לבוחן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5120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מה הפרויקט עושה — סקירה ב‑30 שניות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איך הוא עומד בדרישות המטלה (טבלת כיסוי)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ארכיטקטורה — לקוח, שרת, וזרימה כוללת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מחלקות ועצמים (≥ 2 — יש 9!)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פרוטוקול התקשורת מעל ה‑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TCP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הצפנת סיסמאות —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בלבד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זרימת התחברות והרשמה (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register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/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login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)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לובי, התאמה (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matchmaking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) ומשחק חי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בונוס: ריבוי משחקים במקביל (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threading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)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בונוס: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בשיטת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alpha-beta minimax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ממשק המשתמש: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Tkinter GUI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+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CLI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בדיקות אוטומטיות —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pytest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הדגמה חיה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989320"/>
            <a:ext cx="11277295" cy="45720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r" rtl="1"/>
            <a:r>
              <a:rPr sz="1300" b="1" i="0">
                <a:solidFill>
                  <a:srgbClr val="B25A00"/>
                </a:solidFill>
                <a:latin typeface="Arial"/>
              </a:rPr>
              <a:t xml:space="preserve">טיפ למצגת: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להגיד "עכשיו אעבור איתך שלב אחרי שלב — בכל שלב אראה גם את הקוד".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מה הפרויקט עושה?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5029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שני משתמשים נרשמים בשרת מרכזי עם </a:t>
            </a:r>
            <a:r>
              <a:rPr sz="1700" b="1" i="0">
                <a:solidFill>
                  <a:srgbClr val="1F2328"/>
                </a:solidFill>
                <a:latin typeface="Arial"/>
              </a:rPr>
              <a:t xml:space="preserve">שם משתמש + סיסמה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הסיסמאות נשמרות על הדיסק </a:t>
            </a:r>
            <a:r>
              <a:rPr sz="1700" b="1" i="0">
                <a:solidFill>
                  <a:srgbClr val="1F2328"/>
                </a:solidFill>
                <a:latin typeface="Arial"/>
              </a:rPr>
              <a:t xml:space="preserve">בלבד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כ‑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hash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מאובטח (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) — לא טקסט גלוי.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לאחר התחברות הם נכנסים ל‑</a:t>
            </a:r>
            <a:r>
              <a:rPr sz="1700" b="1" i="0">
                <a:solidFill>
                  <a:srgbClr val="1F2328"/>
                </a:solidFill>
                <a:latin typeface="Arial"/>
              </a:rPr>
              <a:t xml:space="preserve">לובי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; השרת מצמיד שני שחקנים זמינים ופותח משחק שחמט.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המסירות עוברות במסר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JSON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אחד בכל שורה מעל חיבור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TCP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השרת מנהל את הלוח, בודק חוקיות מהלכים, מזהה שחמט / פט / תיקו ושולח עדכוני מצב.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בונוס: אפשר לשחק נגד </a:t>
            </a:r>
            <a:r>
              <a:rPr sz="16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 מקומי במקום נגד יריב אנושי.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700" b="0" i="0">
                <a:solidFill>
                  <a:srgbClr val="1F2328"/>
                </a:solidFill>
                <a:latin typeface="Arial"/>
              </a:rPr>
              <a:t xml:space="preserve">בונוס: השרת תומך בכמה זוגות שחקנים </a:t>
            </a:r>
            <a:r>
              <a:rPr sz="1700" b="1" i="0">
                <a:solidFill>
                  <a:srgbClr val="1F2328"/>
                </a:solidFill>
                <a:latin typeface="Arial"/>
              </a:rPr>
              <a:t xml:space="preserve">במקביל</a:t>
            </a:r>
            <a:r>
              <a:rPr sz="17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כיסוי דרישות המטלה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419295"/>
              </a:tblGrid>
              <a:tr h="653142">
                <a:tc>
                  <a:txBody>
                    <a:bodyPr/>
                    <a:lstStyle/>
                    <a:p>
                      <a:pPr algn="r" rtl="1"/>
                      <a:r>
                        <a:rPr sz="1400" b="1" i="0">
                          <a:solidFill>
                            <a:srgbClr val="1F6FEB"/>
                          </a:solidFill>
                          <a:latin typeface="Arial"/>
                        </a:rPr>
                        <a:t xml:space="preserve">איפה בקוד</a:t>
                      </a:r>
                    </a:p>
                  </a:txBody>
                  <a:tcPr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 i="0">
                          <a:solidFill>
                            <a:srgbClr val="1F6FEB"/>
                          </a:solidFill>
                          <a:latin typeface="Arial"/>
                        </a:rPr>
                        <a:t xml:space="preserve">דרישה</a:t>
                      </a:r>
                    </a:p>
                  </a:txBody>
                  <a:tcPr>
                    <a:solidFill>
                      <a:srgbClr val="EAF2F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Piece · Board · Move · Game · Account · UserStore · Session · Lobby · GameRegistry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שתי מחלקות ומעלה עם עצמים ופעולות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src/secure_chess/server/ + src/secure_chess/client/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מערכת לקוח‑שרת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thread per connection + thread-safe Lobby/GameRegistry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ריבוי לקוחות במקביל  (בונוס)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common/ai.py — alpha-beta minimax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שימוש ב‑AI  (בונוס)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common/crypto.py (bcrypt) → data/users.json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הצפנת סיסמאות בלבד (התקשורת לא מוצפנת)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client/gui.py (Tkinter) + client/cli.py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ממשק משתמש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6172200"/>
            <a:ext cx="11277295" cy="4114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r" rtl="1"/>
            <a:r>
              <a:rPr sz="1300" b="1" i="0">
                <a:solidFill>
                  <a:srgbClr val="B25A00"/>
                </a:solidFill>
                <a:latin typeface="Arial"/>
              </a:rPr>
              <a:t xml:space="preserve">טיפ למצגת: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לפתוח לבוחן את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README.md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ולהראות בדיוק את הטבלה הזו 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repo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ארכיטקטורה — מבט על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329184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+-----------------+         TCP / JSON-Lines         +-----------------+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   Client A      | &lt;------------------------------&gt; |              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  (GUI </a:t>
            </a:r>
            <a:r>
              <a:rPr sz="1000">
                <a:solidFill>
                  <a:srgbClr val="F92672"/>
                </a:solidFill>
                <a:latin typeface="Consolas"/>
              </a:rPr>
              <a:t xml:space="preserve">or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 CLI)   |                                  |              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+-----------------+                                  |              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   ChessServer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+-----------------+         TCP / JSON-Lines         |  (accept loop)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   Client B      | &lt;------------------------------&gt; |              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  (GUI </a:t>
            </a:r>
            <a:r>
              <a:rPr sz="1000">
                <a:solidFill>
                  <a:srgbClr val="F92672"/>
                </a:solidFill>
                <a:latin typeface="Consolas"/>
              </a:rPr>
              <a:t xml:space="preserve">or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 CLI)   |                                  |              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+-----------------+                                  +--------+--------+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+--------------+--------------+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|              |              |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UserStore       Lobby        GameRegistry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(users.json,    (queue of    (active Games,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bcrypt)       waiting     one per match)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sessions)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כל חיבור =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Session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אחד בתוך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thread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דדיקטיבי.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שלוש "מאגרים" משותפים: משתמשים (דיסק), לובי (תור בזיכרון), משחקים פעילים.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השרת לעולם </a:t>
            </a:r>
            <a:r>
              <a:rPr sz="1400" b="1" i="0">
                <a:solidFill>
                  <a:srgbClr val="1F2328"/>
                </a:solidFill>
                <a:latin typeface="Arial"/>
              </a:rPr>
              <a:t xml:space="preserve">לא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שולח את הסיסמאות חזרה ללקוח, ולא שומר אותן בטקסט.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מבנה התיקיות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93776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secure-chess/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|-- pyproject.toml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dependencies (bcrypt, pytest)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|-- README.md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|-- src/secure_chess/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|-- common/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pure logic - no network, no I/O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pieces.py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Color, PieceType, Piece + pseudo-legal moves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board.py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Board + full legality, mate / stale / draws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move.py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Square + Move + UCI parsing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game.py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Game + Result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crypto.py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bcrypt wrappers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user_store.py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Account + JSON-backed UserStore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protocol.py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JSON-Lines framing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ai.py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alpha-beta minimax            BONUS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`-- errors.py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exception hierarchy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|-- server/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network layer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server.py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ChessServer + accept loop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|-- session.py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Session, SessionState, AISession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|   `-- lobby.py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Lobby + GameRegistry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`-- client/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    |-- gui.py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Tkinter GUI front-end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|       `-- cli.py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text-mode REPL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`-- tests/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|-- unit/  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unit tests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`-- integration/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end-to-end tests over real TCP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172200"/>
            <a:ext cx="11277295" cy="4114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r" rtl="1"/>
            <a:r>
              <a:rPr sz="1300" b="1" i="0">
                <a:solidFill>
                  <a:srgbClr val="B25A00"/>
                </a:solidFill>
                <a:latin typeface="Arial"/>
              </a:rPr>
              <a:t xml:space="preserve">טיפ למצגת: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להגיד: "הקפדתי על הפרדה 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common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זה לוגיקה בלי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I/O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, אז קל לבדוק אותה".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9 מחלקות עיקריות (הדרישה: ≥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34095"/>
              </a:tblGrid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sz="1400" b="1" i="0">
                          <a:solidFill>
                            <a:srgbClr val="1F6FEB"/>
                          </a:solidFill>
                          <a:latin typeface="Arial"/>
                        </a:rPr>
                        <a:t xml:space="preserve">תפקיד</a:t>
                      </a:r>
                    </a:p>
                  </a:txBody>
                  <a:tcPr>
                    <a:solidFill>
                      <a:srgbClr val="EAF2FD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 i="0">
                          <a:solidFill>
                            <a:srgbClr val="1F6FEB"/>
                          </a:solidFill>
                          <a:latin typeface="Arial"/>
                        </a:rPr>
                        <a:t xml:space="preserve">מחלקה</a:t>
                      </a:r>
                    </a:p>
                  </a:txBody>
                  <a:tcPr>
                    <a:solidFill>
                      <a:srgbClr val="EAF2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Piece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כלי שחמט (צבע + סוג) + הולכת תנועות פסאודו-חוקיות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הלוח 8x8 + חוקיות מלאה + זיהוי שחמט/פט/תיקו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מהלך (ממ-עד-הכתרה) + פירוק UCI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משחק חי בין שני שחקנים — מחזיק לוח + תוצאה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שורת משתמש: שם + password_hash + תאריך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UserStore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אחסון משתמשים ב‑JSON עם נעילת thread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חיבור לקוח אחד בשרת + מכונת מצבים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Lobby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תור המתנה — מצמיד שני שחקנים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 rtl="0"/>
                      <a:r>
                        <a:rPr sz="1200" b="0" i="0">
                          <a:solidFill>
                            <a:srgbClr val="032F62"/>
                          </a:solidFill>
                          <a:latin typeface="Consolas"/>
                        </a:rPr>
                        <a:t xml:space="preserve">GameRegistry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</a:rPr>
                        <a:t xml:space="preserve">מאגר משחקים פעילים + שידור מצב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פרוטוקול ה‑JSON-Lines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אובייקט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JSON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אחד בכל שורה, מסתיים ב‑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\n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, מעל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TCP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רגיל (ללא הצפנה — לפי דרישת המטלה).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77295" cy="27432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C -&gt; S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"register"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"username"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"alice"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"password"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"hunter2!"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 -&gt; C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"ok"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C -&gt; S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"play_human"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 -&gt; C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"ok"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 -&gt; C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"game_started"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"you_are"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"white"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"opponent"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"bob"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...}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C -&gt; S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"move"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"uci"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"e2e4"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 -&gt; C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"ok"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 -&gt; C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"game_state"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...}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...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 -&gt; C  {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"game_ended"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"result"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"white_wins"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"reason"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"checkmate"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11277295" cy="137160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למה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JSON-Lines</a:t>
            </a:r>
            <a:r>
              <a:rPr sz="1500" b="1" i="0">
                <a:solidFill>
                  <a:srgbClr val="1F2328"/>
                </a:solidFill>
                <a:latin typeface="Arial"/>
              </a:rPr>
              <a:t xml:space="preserve">?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כי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TCP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הוא זרם בייטים בלי גבולות הודעה.</a:t>
            </a:r>
          </a:p>
          <a:p>
            <a:pPr algn="r" rtl="1">
              <a:spcAft>
                <a:spcPts val="2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סיום שורה ב‑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\n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נותן לנו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framing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פשוט שאפשר לקרוא ולפענח בלי שום ספרייה מיוחדת.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קוד הפרוטוקול — protocol.py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38912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send_message(sock: socket.socket, msg: Dict[str, Any]) -&gt;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line = (json.dumps(msg, separators=(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","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":"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)) +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"\n"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).encode(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"utf-8"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sock.sendall(line)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except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OSError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as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exc: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ConnectionClosed(str(exc))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from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exc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_LineReader: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""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"Reads from the socket and buffers until a \n is seen.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Yields exactly one JSON line per read_line() call.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""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__init__(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sock: socket.socket) -&gt;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 = sock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._buf = bytearray()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read_line(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 -&gt; bytes: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while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"\n"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._buf: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chunk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._sock.recv(4096)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chunk: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ConnectionClosed(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"peer closed the connection"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._buf.extend(chunk)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idx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._buf.index(b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"\n"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line = bytes(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._buf[:idx])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del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._buf[: idx + 1]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מה להגיד לבוחן: "השרת והלקוח שניהם משתמשים 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_LineReader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, אז אותה לוגיקת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framing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רצה בשני הצדדים — אין סיכוי לתקרים של חצי-הודעה".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הצפנת סיסמאות — bcrypt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הדרישה הייתה: </a:t>
            </a:r>
            <a:r>
              <a:rPr sz="1500" b="1" i="0">
                <a:solidFill>
                  <a:srgbClr val="1F2328"/>
                </a:solidFill>
                <a:latin typeface="Arial"/>
              </a:rPr>
              <a:t xml:space="preserve">רק הסיסמאות מוצפנות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, לא התקשורת. השתמשתי ב‑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— סטנדרט תעשייתי שמכיל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salt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אוטומטי בתוך ה‑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hash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77295" cy="329184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75715E"/>
                </a:solidFill>
                <a:latin typeface="Consolas"/>
              </a:rPr>
              <a:t xml:space="preserve"># common/crypto.py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import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bcrypt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hash_password(plain: str) -&gt; str: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isinstance(plain, str):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TypeError(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"password must be a string"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bcrypt.hashpw(plain.encode(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"utf-8"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), bcrypt.gensalt()).decode(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"ascii"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verify_password(plain: str, hashed: str) -&gt; bool: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isinstance(plain, str)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or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isinstance(hashed, str):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False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bcrypt.checkpw(plain.encode(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"utf-8"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), hashed.encode(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"ascii"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except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(ValueError, TypeError):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False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למה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ולא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SHA-256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?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כי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איטי בכוונה (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cost factor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) — תקיפת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brute-force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הופכת לבלתי מעשית, גם אם הקובץ דלף.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שמירה לדיסק — UserStore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93776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UserStore: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__init__(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path: str | Path) -&gt;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.path = Path(path)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._lock = threading.Lock()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._accounts: Dict[str, Account] = {}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._load()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register(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username: str, password: str) -&gt; Account: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_validate_username(username)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3-32 chars [A-Za-z0-9_-]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_validate_password(password)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min 8 characters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hashed = hash_password(password)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bcrypt one-way hash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with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._lock: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username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._accounts: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DuplicateUserError(...)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account = Account(username, hashed, _now_utc())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._accounts[username] = account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._persist_locked()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write-tmp + os.replace = atomic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account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authenticate(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username, password) -&gt; Optional[Account]: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with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._lock: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account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._accounts.get(username)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account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account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verify_password(password, account.password_hash)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שלוש נקודות חשובות: ולידציה,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thread-safe lock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, וכתיבה אטומית לקובץ.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הוכחה שאין סיסמה גלויה בדיסק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אחרי שמשתמש נרשם — אפשר לפתוח את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data/users.json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ולוודא שאין שם טקסט גלוי: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1277295" cy="192024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{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"alice"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{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"password_hash"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"$2b$12$KIXr5w9.2T0e1m9k3rN6qO..."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"created_at"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"2026-05-14T13:01:22Z"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11277295" cy="192024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75715E"/>
                </a:solidFill>
                <a:latin typeface="Consolas"/>
              </a:rPr>
              <a:t xml:space="preserve"># shows only hashes - no plaintext passwords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Get-Content .\data\users.json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75715E"/>
                </a:solidFill>
                <a:latin typeface="Consolas"/>
              </a:rPr>
              <a:t xml:space="preserve"># searching for the raw password should return nothing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Select-String -Path .\data\users.json -Pattern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"hunter2!|s3cretpw"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75715E"/>
                </a:solidFill>
                <a:latin typeface="Consolas"/>
              </a:rPr>
              <a:t xml:space="preserve"># expected: no 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172200"/>
            <a:ext cx="11277295" cy="4114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r" rtl="1"/>
            <a:r>
              <a:rPr sz="1300" b="1" i="0">
                <a:solidFill>
                  <a:srgbClr val="B25A00"/>
                </a:solidFill>
                <a:latin typeface="Arial"/>
              </a:rPr>
              <a:t xml:space="preserve">טיפ למצגת: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להריץ את הפקודות האלה מול הבוחן — הוכחה ויזואלית מנצחת.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השרת — לולאת קבלת חיבורים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20624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ChessServer: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start(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 -&gt; tuple[str, int]: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 = socket.socket(socket.AF_INET, socket.SOCK_STREAM)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._sock.setsockopt(socket.SOL_SOCKET, socket.SO_REUSEADDR, 1)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._sock.bind((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.host,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.port))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._sock.listen(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.max_clients)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background accept thread so start() returns immediately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._accept_thread = threading.Thread(target=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._accept_loop, daemon=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True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._accept_thread.start()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.bound_address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_accept_loop(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 -&gt;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while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._stop_event.is_set():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client_sock, peer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._sock.accept()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one Session per client, each on its own thread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session = Session(client_sock, peer,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.user_store,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.lobby,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.registry, ...)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with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._sessions_lock: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._sessions.append(session)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threading.Thread(target=session.run, daemon=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True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name=f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"sess-{session.id[:6]}"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).start()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40680"/>
            <a:ext cx="11277295" cy="105156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הבונוס של ריבוי לקוחות: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כל חיבור הוא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thread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נפרד. המאגרים המשותפים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(UserStore, Lobby, GameRegistry)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כולם מוגנים 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threading.Lock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Session — מכונת מצבים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5720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┌──────────────┐  register/login   ┌────────────────┐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 ANONYMOUS   │  ───────────────► │ AUTHENTICATED  │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└──────────────┘                   └───────┬────────┘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play_human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▼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┌────────────┐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 IN_LOBBY  │ ── 2 שחקנים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└─────┬──────┘    ─────────┐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cancel_lobby      │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▼                   ▼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AUTHENTICATED           IN_GAME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┌──────────┐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submit   │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moves... │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└─────┬────┘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checkmate /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│ resign / quit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▼</a:t>
            </a:r>
          </a:p>
          <a:p>
            <a:pPr algn="l" rtl="0">
              <a:spcAft>
                <a:spcPts val="0"/>
              </a:spcAft>
            </a:pPr>
            <a:r>
              <a:rPr sz="1000">
                <a:solidFill>
                  <a:srgbClr val="F8F8F2"/>
                </a:solidFill>
                <a:latin typeface="Consolas"/>
              </a:rPr>
              <a:t xml:space="preserve">                                                         </a:t>
            </a:r>
            <a:r>
              <a:rPr sz="1000">
                <a:solidFill>
                  <a:srgbClr val="F8F8F2"/>
                </a:solidFill>
                <a:latin typeface="Consolas"/>
              </a:rPr>
              <a:t xml:space="preserve">AUTHENTICATED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לכל הודעה נכנסת השרת בודק 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גם סוג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וגם 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מצב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אם לא תקין, נזרק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BadStateError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והלקוח מקבל הודעת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error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מסודרת.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לולאת השליחה של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93776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run(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 -&gt;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log.info(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"[%s] connected from %s:%d"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.id[:8], *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.peer)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while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._closed: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msg = protocol.recv_message(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._reader)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except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ConnectionClosed: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break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except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ProtocolError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as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exc: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.send(protocol.error(exc.code, str(exc)))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continue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._dispatch(msg)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except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SecureChessError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as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exc: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any domain error -&gt; structured wire-protocol 'error' message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.send(protocol.error(exc.code, str(exc)))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finally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._on_disconnect()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.close()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_dispatch(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msg):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kind = msg[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]           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'register' / 'login' / 'move' ...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handler = getattr(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f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"handle_{kind}"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handler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BadStateError(f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"command {kind!r} not legal"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handler(msg)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דפוס: 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הודעה → handler → ok או error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 אחיד, נקי, בדיק.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הלובי — איך מצמידים שני שחקנים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292608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Lobby: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__init__(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) -&gt;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._queue: List[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"Session"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] = []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._lock = threading.Lock()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enqueue(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session: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"Session"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) -&gt; Optional[Tuple[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"Session"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"Session"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]]: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with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._lock: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._queue.append(session)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len(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._queue) &gt;= 2: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white =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._queue.pop(0)   </a:t>
            </a:r>
            <a:r>
              <a:rPr sz="1200">
                <a:solidFill>
                  <a:srgbClr val="75715E"/>
                </a:solidFill>
                <a:latin typeface="Consolas"/>
              </a:rPr>
              <a:t xml:space="preserve"># FIFO - longest-waiting first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black =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._queue.pop(0)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white, black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77295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תור פשוט בזיכרון, מוגן ב‑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Lock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כי הוא נגיש מ‑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threads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מרובים.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שני שחקנים = השרת קורא ל‑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GameRegistry.create(white, black)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שמשגר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game_started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לשניהם.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שחקן שמבטל המתנה (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cancel_lobby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) — מוסרים אותו דרך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Lobby.remove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GameRegistry — שידור מצב המשחק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265176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broadcast_state(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game: Game, last_move: str) -&gt;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msg = {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"type"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"game_state"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"game_id"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game.id,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"last_move"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last_move,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"board"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game.board.to_fen_short(),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"to_move"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"white"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game.board.side_to_move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Color.WHITE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else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"black"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"in_check"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game.board.is_in_check(game.board.side_to_move),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game.white.send(msg)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game.black.send(msg)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86200"/>
            <a:ext cx="11277295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אחרי כל מהלך מוצלח, </a:t>
            </a:r>
            <a:r>
              <a:rPr sz="1500" b="1" i="0">
                <a:solidFill>
                  <a:srgbClr val="1F2328"/>
                </a:solidFill>
                <a:latin typeface="Arial"/>
              </a:rPr>
              <a:t xml:space="preserve">שני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השחקנים מקבלים אותה הודעת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game_state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עם מצב הלוח ב‑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FEN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2000"/>
            <a:ext cx="11277295" cy="146304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למה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FEN</a:t>
            </a:r>
            <a:r>
              <a:rPr sz="1500" b="1" i="0">
                <a:solidFill>
                  <a:srgbClr val="1F2328"/>
                </a:solidFill>
                <a:latin typeface="Arial"/>
              </a:rPr>
              <a:t xml:space="preserve">?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כי זה ייצוג סטנדרטי, קומפקטי, של מצב הלוח —</a:t>
            </a:r>
          </a:p>
          <a:p>
            <a:pPr algn="r" rtl="1">
              <a:spcAft>
                <a:spcPts val="200"/>
              </a:spcAft>
            </a:pPr>
            <a:r>
              <a:rPr sz="1500" b="0" i="0">
                <a:solidFill>
                  <a:srgbClr val="1F2328"/>
                </a:solidFill>
                <a:latin typeface="Arial"/>
              </a:rPr>
              <a:t xml:space="preserve">הלקוח </a:t>
            </a:r>
            <a:r>
              <a:rPr sz="1400" b="0" i="0">
                <a:solidFill>
                  <a:srgbClr val="032F62"/>
                </a:solidFill>
                <a:latin typeface="Consolas"/>
              </a:rPr>
              <a:t xml:space="preserve">(GUI / CLI)</a:t>
            </a:r>
            <a:r>
              <a:rPr sz="1500" b="0" i="0">
                <a:solidFill>
                  <a:srgbClr val="1F2328"/>
                </a:solidFill>
                <a:latin typeface="Arial"/>
              </a:rPr>
              <a:t xml:space="preserve"> מצייר ממנו לוח גרפי או טקסטואלי.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זרימת מהלך — מקצה לקצה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20624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75715E"/>
                </a:solidFill>
                <a:latin typeface="Consolas"/>
              </a:rPr>
              <a:t xml:space="preserve"># Session.handle_move  (server-side)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handle_move(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msg):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.state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SessionState.IN_GAME: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BadStateError(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"no active game"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move = Move.parse(msg[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"uci"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])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"e2e4" -&gt; Move object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game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.current_game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game.submit_move(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move)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1) Game: check it is your turn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                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2) Board: full legality check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                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3) Board: apply + detect mate/stale/draw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.send(protocol.ok())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game.result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.registry.broadcast_state(game, last_move=msg[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"uci"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])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next_session = game.current_session()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isinstance(next_session, AISession):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.registry.drive_ai(next_session)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AI's turn? make it play now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.registry.end(game)      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send 'game_ended' to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77295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שימו לב: 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הלקוח לא מאמת חוקיות בעצמו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 השרת הוא ה‑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source of truth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 כך לקוח זדוני לא יכול "לרמות".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חוקיות מהלכים — Game.submit_move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93776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submit_move(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session, move: Move) -&gt; Move: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.result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IllegalMoveError(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"game has already ended"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mover_color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.color_of(session)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mover_color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NotYourTurnError(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"session is not a participant"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mover_color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.board.side_to_move: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NotYourTurnError(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"it is not your turn"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resolved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.board.apply(move)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single source of truth for legality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.last_move_uci = resolved.to_uci()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.board.is_checkmate():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.result = (Result.white_wins(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"checkmate"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mover_color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Color.WHITE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Result.black_wins(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"checkmate"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.board.is_stalemate():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.result = Result.draw(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"stalemate"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.board.is_threefold_repetition():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.result = Result.draw(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"threefold"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.board.is_fifty_move_draw():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.result = Result.draw(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"fifty-move"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חוקי השחמט עצמם נמצאים במחלקה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Board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(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~315 lines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) — תנועות פסאודו, סינון לפי שח, רוקדה,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en-passant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, הכתרה.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בונוס: יריב AI — alpha-beta minimax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38912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AIPlayer: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choose_move(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board: Board, depth: int = 3) -&gt; Move: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side = board.side_to_move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legal = board.legal_moves(side)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best_score, best_moves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[]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alpha, beta = -math.inf, math.inf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for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move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legal: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snap = board._snapshot()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try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board._apply_unchecked(move)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score = -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._negamax(board, depth - 1, -beta, -alpha,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       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perspective=side.opposite())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finally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board._restore(snap)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best_score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or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score &gt; best_score: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best_score, best_moves = score, [move]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score == best_score: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best_moves.append(move)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score &gt; alpha: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alpha = score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random.choice(best_moves)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random tie-break between equal moves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577840"/>
            <a:ext cx="11277295" cy="96012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negamax + alpha-beta: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אותה פונקציה מנקודת מבט של הצד הנוכחי, עם גזירה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(pruning)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כשמוצאים תוצאה שמשתחררת. עומק ברירת מחדל =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הערכת מצב — material balance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5720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PIECE_VALUE = {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PieceType.PAWN:   100,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PieceType.KNIGHT: 300,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PieceType.BISHOP: 300,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PieceType.ROOK:   500,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PieceType.QUEEN:  900,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PieceType.KING:   0,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no value - mate is handled via CHECKMATE_SCORE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}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CHECKMATE_SCORE = 1_000_000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evaluate(board: Board) -&gt; int: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""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"Material balance from White's perspective, in centipawns."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score = 0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for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f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range(8):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for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range(8):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p = board.squares[f][r]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p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continue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val = PIECE_VALUE[p.kind]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score += val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p.color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Color.WHITE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-val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return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פונקציית הערכה פשוטה אבל אפקטיבית — מספיק כדי לנצח שחקן מתחיל. הדרישה היא 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שימוש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, לא מנוע ברמת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Stockfish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איך ה‑AI משתלב בפרוטוקול?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347472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75715E"/>
                </a:solidFill>
                <a:latin typeface="Consolas"/>
              </a:rPr>
              <a:t xml:space="preserve"># Session.handle_play_ai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handle_play_ai(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msg):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.state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not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SessionState.AUTHENTICATED: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raise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BadStateError(...)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requested_color = msg.get(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"color"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"white"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depth = max(1, min(4, int(msg.get(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"depth"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.ai_depth))))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ai_session = AISession(depth=depth, registry=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requested_color ==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"white"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white, black =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, ai_session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else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white, black = ai_session,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.registry.create(white, black)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if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isinstance(white, AISession):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1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.registry.drive_ai(white)        </a:t>
            </a:r>
            <a:r>
              <a:rPr sz="1100">
                <a:solidFill>
                  <a:srgbClr val="75715E"/>
                </a:solidFill>
                <a:latin typeface="Consolas"/>
              </a:rPr>
              <a:t xml:space="preserve"># AI opens if it plays White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0916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1" i="0">
                <a:solidFill>
                  <a:srgbClr val="1F2328"/>
                </a:solidFill>
                <a:latin typeface="Arial"/>
              </a:rPr>
              <a:t xml:space="preserve">טריק יפה: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AISession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מממש את אותו </a:t>
            </a:r>
            <a:r>
              <a:rPr sz="1400" b="1" i="0">
                <a:solidFill>
                  <a:srgbClr val="1F2328"/>
                </a:solidFill>
                <a:latin typeface="Arial"/>
              </a:rPr>
              <a:t xml:space="preserve">חוזה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כמו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Session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אמיתי (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.send, .account, .current_game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).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לכן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ו‑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GameRegistry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בכלל לא יודעים שזה לא בן-אדם.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989320"/>
            <a:ext cx="11277295" cy="54864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שימוש בעיקרון Liskov: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בני אדם ו‑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משחקים דרך אותו ממשק.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בונוס: ריבוי משחקים במקביל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כל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Session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רץ ב‑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thread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משלו → אין חסימה בין לקוחות.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UserStore, Lobby, GameRegistry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— כולם נעולים ב‑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threading.Lock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הלובי מצמיד שני שחקנים זמינים → כל זוג מקבל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משל עצמו ב‑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GameRegistry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שחקנים זוגות אחרים מקבלים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game_state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רק על המשחק שלהם.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108960"/>
            <a:ext cx="11277295" cy="265176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75715E"/>
                </a:solidFill>
                <a:latin typeface="Consolas"/>
              </a:rPr>
              <a:t xml:space="preserve"># lobby.py - locked under multi-thread access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GameRegistry: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__init__(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) -&gt;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._games: Dict[str, Game] = {}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._lock = threading.Lock()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create(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white, black) -&gt; Game: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game = Game(white=white, black=black)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with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._lock: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._games[game.id] = game   </a:t>
            </a:r>
            <a:r>
              <a:rPr sz="1200">
                <a:solidFill>
                  <a:srgbClr val="75715E"/>
                </a:solidFill>
                <a:latin typeface="Consolas"/>
              </a:rPr>
              <a:t xml:space="preserve"># atomic wrt other threads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קיים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integration test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מלא: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tests/integration/test_parallel_games.py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ממשק המשתמש — Tkinter 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2560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שלושה מסכים בתוך אותו חלון: </a:t>
            </a:r>
            <a:r>
              <a:rPr sz="1400" b="1" i="0">
                <a:solidFill>
                  <a:srgbClr val="1F2328"/>
                </a:solidFill>
                <a:latin typeface="Arial"/>
              </a:rPr>
              <a:t xml:space="preserve">Login → Lobby → Game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לוח 8×8 מצויר על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Canvas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עם סמלי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Unicode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של כלי שחמט.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0" i="0">
                <a:solidFill>
                  <a:srgbClr val="1F2328"/>
                </a:solidFill>
                <a:latin typeface="Arial"/>
              </a:rPr>
              <a:t xml:space="preserve">קליק על הכלי שלי + קליק על משבצת יעד → שולח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{"type":"move","uci":"e2e4"}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Threading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בלקוח: </a:t>
            </a:r>
            <a:r>
              <a:rPr sz="1400" b="1" i="0">
                <a:solidFill>
                  <a:srgbClr val="1F2328"/>
                </a:solidFill>
                <a:latin typeface="Arial"/>
              </a:rPr>
              <a:t xml:space="preserve">thread רקע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שקורא מהשרת ודוחף ל‑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queue.Queue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; ה‑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main loop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של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Tk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 דוגם אותה כל </a:t>
            </a:r>
            <a:r>
              <a:rPr sz="1300" b="0" i="0">
                <a:solidFill>
                  <a:srgbClr val="032F62"/>
                </a:solidFill>
                <a:latin typeface="Consolas"/>
              </a:rPr>
              <a:t xml:space="preserve">50ms</a:t>
            </a:r>
            <a:r>
              <a:rPr sz="14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840480"/>
            <a:ext cx="11277295" cy="22860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200">
                <a:solidFill>
                  <a:srgbClr val="75715E"/>
                </a:solidFill>
                <a:latin typeface="Consolas"/>
              </a:rPr>
              <a:t xml:space="preserve"># gui.py - screen-switching pattern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92672"/>
                </a:solidFill>
                <a:latin typeface="Consolas"/>
              </a:rPr>
              <a:t xml:space="preserve">def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_show_screen(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, name: str) -&gt;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None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for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widget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in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._content.winfo_children():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widget.destroy()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builder = {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"login"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._build_login,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"lobby"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._build_lobby,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    </a:t>
            </a:r>
            <a:r>
              <a:rPr sz="1200">
                <a:solidFill>
                  <a:srgbClr val="E6DB74"/>
                </a:solidFill>
                <a:latin typeface="Consolas"/>
              </a:rPr>
              <a:t xml:space="preserve">"game"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:  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._build_game,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}[name]</a:t>
            </a:r>
          </a:p>
          <a:p>
            <a:pPr algn="l" rtl="0">
              <a:spcAft>
                <a:spcPts val="0"/>
              </a:spcAft>
            </a:pPr>
            <a:r>
              <a:rPr sz="12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builder(</a:t>
            </a:r>
            <a:r>
              <a:rPr sz="1200">
                <a:solidFill>
                  <a:srgbClr val="F92672"/>
                </a:solidFill>
                <a:latin typeface="Consolas"/>
              </a:rPr>
              <a:t xml:space="preserve">self</a:t>
            </a:r>
            <a:r>
              <a:rPr sz="1200">
                <a:solidFill>
                  <a:srgbClr val="F8F8F2"/>
                </a:solidFill>
                <a:latin typeface="Consolas"/>
              </a:rPr>
              <a:t xml:space="preserve">._content)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Tkinter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נכלל 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Python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סטנדרטי, אז אין תלות חיצונית.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ממשק חלופי — CLI (טקסט)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45720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$ python -m secure_chess.client --host 127.0.0.1 --port 5050 --cli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connected to 127.0.0.1:5050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&gt; register alice hunter2!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ok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&gt; play_human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ok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== game started ==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you are: white   opponent: bob   to move: white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8 r n b q k b n r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7 p p p p p p p p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6 . . . . . . . .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5 . . . . . . . .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4 . . . . . . . .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3 . . . . . . . .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2 P P P P P P P P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1 R N B Q K B N R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a b c d e f g h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&gt; move e2e4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11277295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אותו פרוטוקול בדיוק כמו ה‑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GUI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→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GUI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יכול לשחק נגד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CLI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thread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נפרד קורא הודעות שרת בזמן שהמשתמש מקליד.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היררכיית שגיאות — errors.py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11277295" cy="36576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SecureChessError(Exception):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    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code: str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"internal_error"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> 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MoveParseError(SecureChessError):  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"move_parse_error"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IllegalMoveError(SecureChessError):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"illegal_move"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NotYourTurnError(SecureChessError):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"not_your_turn"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ProtocolError(SecureChessError):   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"bad_request"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DuplicateUserError(SecureChessError):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"duplicate_user"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WeakPasswordError(SecureChessError):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"weak_password"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AuthenticationError(SecureChessError):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"auth_failed"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AlreadyLoggedInError(SecureChessError):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"already_logged_in"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ValidationError(SecureChessError): 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"validation"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BadStateError(SecureChessError):   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"bad_state"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92672"/>
                </a:solidFill>
                <a:latin typeface="Consolas"/>
              </a:rPr>
              <a:t xml:space="preserve">class</a:t>
            </a:r>
            <a:r>
              <a:rPr sz="1100">
                <a:solidFill>
                  <a:srgbClr val="F8F8F2"/>
                </a:solidFill>
                <a:latin typeface="Consolas"/>
              </a:rPr>
              <a:t xml:space="preserve"> ServerFullError(SecureChessError):       code = </a:t>
            </a:r>
            <a:r>
              <a:rPr sz="1100">
                <a:solidFill>
                  <a:srgbClr val="E6DB74"/>
                </a:solidFill>
                <a:latin typeface="Consolas"/>
              </a:rPr>
              <a:t xml:space="preserve">"server_full"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846320"/>
            <a:ext cx="11277295" cy="155448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כל שגיאה יודעת מה ה‑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code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שלה. ה‑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dispatcher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תופס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SecureChessError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אחד וממיר אותה אוטומטית להודעת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error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בפרוטוקול:</a:t>
            </a:r>
          </a:p>
          <a:p>
            <a:pPr algn="r" rtl="1">
              <a:spcAft>
                <a:spcPts val="200"/>
              </a:spcAft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{"type":"error","code":"auth_failed","message":"..."}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בדיקות —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410047" cy="3291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1" i="0">
                <a:solidFill>
                  <a:srgbClr val="1F2328"/>
                </a:solidFill>
                <a:latin typeface="Arial"/>
              </a:rPr>
              <a:t xml:space="preserve">בדיקות יחידה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test_crypto.py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bcrypt hash/verify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test_user_store.py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רישום / כפילות / סיסמה חלשה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test_pieces.py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תנועות לכל סוג כלי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test_board_rules.py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שחמט / פט / רוקדה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test_ai.py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בחירת מהלך, גזירה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test_protocol_auth.py / test_protocol_game.py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test_client_gui.py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לוגיקת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FEN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051560"/>
            <a:ext cx="5410047" cy="3291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1" i="0">
                <a:solidFill>
                  <a:srgbClr val="1F2328"/>
                </a:solidFill>
                <a:latin typeface="Arial"/>
              </a:rPr>
              <a:t xml:space="preserve">בדיקות אינטגרציה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test_register_login.py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test_full_game.py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שני לקוחות, מהלכים, סיום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test_parallel_games.py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בונוס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test_play_ai.py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— בונוס</a:t>
            </a:r>
          </a:p>
          <a:p>
            <a:pPr algn="r" rtl="1" indent="-201168" marL="274320">
              <a:spcAft>
                <a:spcPts val="400"/>
              </a:spcAft>
              <a:buChar char="•"/>
            </a:pP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test_cancel_lobby.py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120640"/>
            <a:ext cx="11277295" cy="9144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300">
                <a:solidFill>
                  <a:srgbClr val="F8F8F2"/>
                </a:solidFill>
                <a:latin typeface="Consolas"/>
              </a:rPr>
              <a:t xml:space="preserve">pytest -v</a:t>
            </a:r>
          </a:p>
          <a:p>
            <a:pPr algn="l" rtl="0">
              <a:spcAft>
                <a:spcPts val="0"/>
              </a:spcAft>
            </a:pPr>
            <a:r>
              <a:rPr sz="1300">
                <a:solidFill>
                  <a:srgbClr val="75715E"/>
                </a:solidFill>
                <a:latin typeface="Consolas"/>
              </a:rPr>
              <a:t xml:space="preserve"># expected: 60+ tests pass in &lt; 60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הדגמה חיה — סדר הצעדים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400"/>
              </a:spcAft>
              <a:buChar char="•"/>
            </a:pPr>
            <a:r>
              <a:rPr sz="1400" b="1" i="0">
                <a:solidFill>
                  <a:srgbClr val="1F2328"/>
                </a:solidFill>
                <a:latin typeface="Arial"/>
              </a:rPr>
              <a:t xml:space="preserve">שלב 1 — שרת: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27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37160" tIns="109728" bIns="109728"/>
          <a:lstStyle/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cd secure-chess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.\.venv\Scripts\Activate.ps1</a:t>
            </a:r>
          </a:p>
          <a:p>
            <a:pPr algn="l" rtl="0">
              <a:spcAft>
                <a:spcPts val="0"/>
              </a:spcAft>
            </a:pPr>
            <a:r>
              <a:rPr sz="1100">
                <a:solidFill>
                  <a:srgbClr val="F8F8F2"/>
                </a:solidFill>
                <a:latin typeface="Consolas"/>
              </a:rPr>
              <a:t xml:space="preserve">python -m secure_chess.server --host 127.0.0.1 --port 5050 --data-dir ./data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840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2 — לקוח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Alice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python -m secure_chess.client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→ רישום →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Join Lobby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3 — לקוח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Bob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python -m secure_chess.client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→ רישום →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Join Lobby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 השרת מצמיד והמשחק מתחיל.</a:t>
            </a:r>
          </a:p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4: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לבצע 2–3 מהלכים, להראות שעדכון מצב מגיע 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לשני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הלקוחות.</a:t>
            </a:r>
          </a:p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5: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לפתוח את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data/users.json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ולהראות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hashes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בלבד.</a:t>
            </a:r>
          </a:p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6 — בונוס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python -m secure_chess.client --cli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→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play_ai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7 — בונוס מקבילי: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לפתוח עוד 2 לקוחות → שני משחקים בו זמנית.</a:t>
            </a:r>
          </a:p>
          <a:p>
            <a:pPr algn="r" rtl="1" indent="-201168" marL="274320">
              <a:spcAft>
                <a:spcPts val="3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שלב 8: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להריץ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pytest -v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ולהראות 60+ בדיקות ירוקות.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172200"/>
            <a:ext cx="11277295" cy="4114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r" rtl="1"/>
            <a:r>
              <a:rPr sz="1300" b="1" i="0">
                <a:solidFill>
                  <a:srgbClr val="B25A00"/>
                </a:solidFill>
                <a:latin typeface="Arial"/>
              </a:rPr>
              <a:t xml:space="preserve">טיפ למצגת: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להכין מראש את ארבעת הטרמינלים פתוחים — לא מאבדים זמן על הקלדה מול הבוחן.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/>
            <a:r>
              <a:rPr sz="3000" b="1" i="0">
                <a:solidFill>
                  <a:srgbClr val="1F6FEB"/>
                </a:solidFill>
                <a:latin typeface="Arial"/>
              </a:rPr>
              <a:t xml:space="preserve">שאלות צפויות מהבוחן — תשובות מוכנות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7295" cy="5303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1" indent="-201168" marL="274320">
              <a:spcAft>
                <a:spcPts val="500"/>
              </a:spcAft>
              <a:buChar char="•"/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"למה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ולא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SHA-256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?"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איטי בכוונה ומכיל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salt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פנימי, ולכן עמיד ל‑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brute-force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וטבלאות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rainbow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"איך אתה מבטיח שהתקשורת בין שני המהלכים לא תתערבב?"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JSON-Lines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נותן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framing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ברור (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\n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), ו‑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_LineReader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צובר עד שמגיע סוף שורה.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"מה קורה אם לקוח מתנתק באמצע משחק?"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_on_disconnect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Session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קורא ל‑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Game.handle_disconnect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שמסיים את המשחק בניצחון לצד השני (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reason="disconnect"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).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"איך השרת מטפל בכמה שחקנים בו זמנית?"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thread per connection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+ מבני נתונים משותפים תחת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threading.Lock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</a:rPr>
              <a:t xml:space="preserve">"איפה החוקיות נאכפת?"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— רק ב‑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Board.apply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בשרת. הלקוח לא מאמת — אחרת לקוח זדוני יוכל לרמות.</a:t>
            </a:r>
          </a:p>
          <a:p>
            <a:pPr algn="r" rtl="1" indent="-201168" marL="274320">
              <a:spcAft>
                <a:spcPts val="500"/>
              </a:spcAft>
              <a:buChar char="•"/>
            </a:pPr>
            <a:r>
              <a:rPr sz="1300" b="0" i="0">
                <a:solidFill>
                  <a:srgbClr val="1F2328"/>
                </a:solidFill>
                <a:latin typeface="Arial"/>
              </a:rPr>
              <a:t xml:space="preserve">"איך ה‑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300" b="1" i="0">
                <a:solidFill>
                  <a:srgbClr val="1F2328"/>
                </a:solidFill>
                <a:latin typeface="Arial"/>
              </a:rPr>
              <a:t xml:space="preserve"> משתלב מבלי לכתוב מסלול מיוחד?" 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—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AISession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מחקה את הממשק של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Session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(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duck typing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) ולכן </a:t>
            </a:r>
            <a:r>
              <a:rPr sz="1200" b="0" i="0">
                <a:solidFill>
                  <a:srgbClr val="032F62"/>
                </a:solidFill>
                <a:latin typeface="Consolas"/>
              </a:rPr>
              <a:t xml:space="preserve">Game</a:t>
            </a:r>
            <a:r>
              <a:rPr sz="1300" b="0" i="0">
                <a:solidFill>
                  <a:srgbClr val="1F2328"/>
                </a:solidFill>
                <a:latin typeface="Arial"/>
              </a:rPr>
              <a:t xml:space="preserve"> לא מבדיל ביניהם.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77295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ctr"/>
            <a:r>
              <a:rPr sz="4400" b="1" i="0">
                <a:solidFill>
                  <a:srgbClr val="1F2328"/>
                </a:solidFill>
                <a:latin typeface="Arial"/>
              </a:rPr>
              <a:t xml:space="preserve">סיכום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0" i="0">
                <a:solidFill>
                  <a:srgbClr val="1F2328"/>
                </a:solidFill>
                <a:latin typeface="Arial"/>
              </a:rPr>
              <a:t xml:space="preserve">ארכיטקטורה נקייה, פרוטוקול </a:t>
            </a:r>
            <a:r>
              <a:rPr sz="1700" b="0" i="0">
                <a:solidFill>
                  <a:srgbClr val="032F62"/>
                </a:solidFill>
                <a:latin typeface="Consolas"/>
              </a:rPr>
              <a:t xml:space="preserve">JSON-Lines</a:t>
            </a:r>
            <a:r>
              <a:rPr sz="1800" b="0" i="0">
                <a:solidFill>
                  <a:srgbClr val="1F2328"/>
                </a:solidFill>
                <a:latin typeface="Arial"/>
              </a:rPr>
              <a:t xml:space="preserve"> פשוט אך עמיד, סיסמאות מוגנות ב‑</a:t>
            </a:r>
            <a:r>
              <a:rPr sz="1700" b="0" i="0">
                <a:solidFill>
                  <a:srgbClr val="032F62"/>
                </a:solidFill>
                <a:latin typeface="Consolas"/>
              </a:rPr>
              <a:t xml:space="preserve">bcrypt</a:t>
            </a:r>
            <a:r>
              <a:rPr sz="1800" b="0" i="0">
                <a:solidFill>
                  <a:srgbClr val="1F2328"/>
                </a:solidFill>
                <a:latin typeface="Arial"/>
              </a:rPr>
              <a:t xml:space="preserve">, ריבוי משחקים תחת </a:t>
            </a:r>
            <a:r>
              <a:rPr sz="1700" b="0" i="0">
                <a:solidFill>
                  <a:srgbClr val="032F62"/>
                </a:solidFill>
                <a:latin typeface="Consolas"/>
              </a:rPr>
              <a:t xml:space="preserve">threading</a:t>
            </a:r>
            <a:r>
              <a:rPr sz="1800" b="0" i="0">
                <a:solidFill>
                  <a:srgbClr val="1F2328"/>
                </a:solidFill>
                <a:latin typeface="Arial"/>
              </a:rPr>
              <a:t xml:space="preserve">, ויריב </a:t>
            </a:r>
            <a:r>
              <a:rPr sz="1700" b="0" i="0">
                <a:solidFill>
                  <a:srgbClr val="032F62"/>
                </a:solidFill>
                <a:latin typeface="Consolas"/>
              </a:rPr>
              <a:t xml:space="preserve">AI</a:t>
            </a:r>
            <a:r>
              <a:rPr sz="1800" b="0" i="0">
                <a:solidFill>
                  <a:srgbClr val="1F2328"/>
                </a:solidFill>
                <a:latin typeface="Arial"/>
              </a:rPr>
              <a:t xml:space="preserve"> מבוסס </a:t>
            </a:r>
            <a:r>
              <a:rPr sz="1700" b="0" i="0">
                <a:solidFill>
                  <a:srgbClr val="032F62"/>
                </a:solidFill>
                <a:latin typeface="Consolas"/>
              </a:rPr>
              <a:t xml:space="preserve">alpha-beta minimax</a:t>
            </a:r>
            <a:r>
              <a:rPr sz="1800" b="0" i="0">
                <a:solidFill>
                  <a:srgbClr val="1F2328"/>
                </a:solidFill>
                <a:latin typeface="Arial"/>
              </a:rPr>
              <a:t xml:space="preserve"> — הכל מכוסה ב‑60+ בדיקות </a:t>
            </a:r>
            <a:r>
              <a:rPr sz="1700" b="0" i="0">
                <a:solidFill>
                  <a:srgbClr val="032F62"/>
                </a:solidFill>
                <a:latin typeface="Consolas"/>
              </a:rPr>
              <a:t xml:space="preserve">pytest</a:t>
            </a:r>
            <a:r>
              <a:rPr sz="1800" b="0" i="0">
                <a:solidFill>
                  <a:srgbClr val="1F2328"/>
                </a:solidFill>
                <a:latin typeface="Arial"/>
              </a:rPr>
              <a:t xml:space="preserve"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047" y="475488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2000" b="1" i="0">
                <a:solidFill>
                  <a:srgbClr val="1F6FEB"/>
                </a:solidFill>
                <a:latin typeface="Arial"/>
              </a:rPr>
              <a:t xml:space="preserve">תודה — נשמח לשאלות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36576" bIns="36576">
            <a:spAutoFit/>
          </a:bodyPr>
          <a:lstStyle/>
          <a:p>
            <a:pPr algn="r" rtl="0"/>
            <a:r>
              <a:rPr sz="1000" b="0" i="0">
                <a:solidFill>
                  <a:srgbClr val="57606A"/>
                </a:solidFill>
                <a:latin typeface="Consolas"/>
              </a:rPr>
              <a:t xml:space="preserve"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